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6"/>
  </p:notesMasterIdLst>
  <p:sldIdLst>
    <p:sldId id="260" r:id="rId5"/>
  </p:sldIdLst>
  <p:sldSz cx="43891200" cy="32918400"/>
  <p:notesSz cx="6858000" cy="9144000"/>
  <p:defaultTextStyle>
    <a:defPPr>
      <a:defRPr lang="en-US"/>
    </a:defPPr>
    <a:lvl1pPr marL="0" algn="l" defTabSz="4570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020" algn="l" defTabSz="4570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040" algn="l" defTabSz="4570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048" algn="l" defTabSz="4570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068" algn="l" defTabSz="4570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088" algn="l" defTabSz="4570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108" algn="l" defTabSz="4570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116" algn="l" defTabSz="4570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136" algn="l" defTabSz="4570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57C"/>
    <a:srgbClr val="D10F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B25424-E639-43A8-9D0A-3B634BF3A91C}" v="610" dt="2026-03-28T04:31:38.493"/>
    <p1510:client id="{4911A58E-6051-A35E-8DD2-8D6964467ABA}" v="1745" dt="2026-03-29T02:53:03.549"/>
    <p1510:client id="{59EC9B9F-197D-0154-8360-E8E1B56A3A50}" v="1295" dt="2026-03-30T03:21:41.904"/>
    <p1510:client id="{66A1EBA0-839D-6699-479C-E149000D4C7D}" v="19" dt="2026-03-28T05:26:43.787"/>
    <p1510:client id="{76806588-F905-4436-FD71-55C0AC156950}" v="8" dt="2026-03-28T22:00:34.787"/>
    <p1510:client id="{B06D38DE-AA60-9E28-0DD8-133EE27CD8DF}" v="1067" dt="2026-03-29T20:42:29.261"/>
    <p1510:client id="{E40616A1-98BD-7163-AA0C-FFBE29D4DA88}" v="20" dt="2026-03-28T22:19:50.879"/>
    <p1510:client id="{F953321C-D2AF-ABFE-78BC-7F39A0090988}" v="33" dt="2026-03-28T16:56:33.0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363DF7-D1D6-0849-BD92-5A4CD7900F63}" type="datetimeFigureOut"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05647B-F076-7644-AD6D-3577091B525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310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85152" rtl="0" eaLnBrk="1" latinLnBrk="0" hangingPunct="1">
      <a:defRPr sz="4836" kern="1200">
        <a:solidFill>
          <a:schemeClr val="tx1"/>
        </a:solidFill>
        <a:latin typeface="+mn-lt"/>
        <a:ea typeface="+mn-ea"/>
        <a:cs typeface="+mn-cs"/>
      </a:defRPr>
    </a:lvl1pPr>
    <a:lvl2pPr marL="1842576" algn="l" defTabSz="3685152" rtl="0" eaLnBrk="1" latinLnBrk="0" hangingPunct="1">
      <a:defRPr sz="4836" kern="1200">
        <a:solidFill>
          <a:schemeClr val="tx1"/>
        </a:solidFill>
        <a:latin typeface="+mn-lt"/>
        <a:ea typeface="+mn-ea"/>
        <a:cs typeface="+mn-cs"/>
      </a:defRPr>
    </a:lvl2pPr>
    <a:lvl3pPr marL="3685152" algn="l" defTabSz="3685152" rtl="0" eaLnBrk="1" latinLnBrk="0" hangingPunct="1">
      <a:defRPr sz="4836" kern="1200">
        <a:solidFill>
          <a:schemeClr val="tx1"/>
        </a:solidFill>
        <a:latin typeface="+mn-lt"/>
        <a:ea typeface="+mn-ea"/>
        <a:cs typeface="+mn-cs"/>
      </a:defRPr>
    </a:lvl3pPr>
    <a:lvl4pPr marL="5527728" algn="l" defTabSz="3685152" rtl="0" eaLnBrk="1" latinLnBrk="0" hangingPunct="1">
      <a:defRPr sz="4836" kern="1200">
        <a:solidFill>
          <a:schemeClr val="tx1"/>
        </a:solidFill>
        <a:latin typeface="+mn-lt"/>
        <a:ea typeface="+mn-ea"/>
        <a:cs typeface="+mn-cs"/>
      </a:defRPr>
    </a:lvl4pPr>
    <a:lvl5pPr marL="7370304" algn="l" defTabSz="3685152" rtl="0" eaLnBrk="1" latinLnBrk="0" hangingPunct="1">
      <a:defRPr sz="4836" kern="1200">
        <a:solidFill>
          <a:schemeClr val="tx1"/>
        </a:solidFill>
        <a:latin typeface="+mn-lt"/>
        <a:ea typeface="+mn-ea"/>
        <a:cs typeface="+mn-cs"/>
      </a:defRPr>
    </a:lvl5pPr>
    <a:lvl6pPr marL="9212880" algn="l" defTabSz="3685152" rtl="0" eaLnBrk="1" latinLnBrk="0" hangingPunct="1">
      <a:defRPr sz="4836" kern="1200">
        <a:solidFill>
          <a:schemeClr val="tx1"/>
        </a:solidFill>
        <a:latin typeface="+mn-lt"/>
        <a:ea typeface="+mn-ea"/>
        <a:cs typeface="+mn-cs"/>
      </a:defRPr>
    </a:lvl6pPr>
    <a:lvl7pPr marL="11055444" algn="l" defTabSz="3685152" rtl="0" eaLnBrk="1" latinLnBrk="0" hangingPunct="1">
      <a:defRPr sz="4836" kern="1200">
        <a:solidFill>
          <a:schemeClr val="tx1"/>
        </a:solidFill>
        <a:latin typeface="+mn-lt"/>
        <a:ea typeface="+mn-ea"/>
        <a:cs typeface="+mn-cs"/>
      </a:defRPr>
    </a:lvl7pPr>
    <a:lvl8pPr marL="12898020" algn="l" defTabSz="3685152" rtl="0" eaLnBrk="1" latinLnBrk="0" hangingPunct="1">
      <a:defRPr sz="4836" kern="1200">
        <a:solidFill>
          <a:schemeClr val="tx1"/>
        </a:solidFill>
        <a:latin typeface="+mn-lt"/>
        <a:ea typeface="+mn-ea"/>
        <a:cs typeface="+mn-cs"/>
      </a:defRPr>
    </a:lvl8pPr>
    <a:lvl9pPr marL="14740596" algn="l" defTabSz="3685152" rtl="0" eaLnBrk="1" latinLnBrk="0" hangingPunct="1">
      <a:defRPr sz="48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05647B-F076-7644-AD6D-3577091B5250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137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ster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6">
            <a:extLst>
              <a:ext uri="{FF2B5EF4-FFF2-40B4-BE49-F238E27FC236}">
                <a16:creationId xmlns:a16="http://schemas.microsoft.com/office/drawing/2014/main" id="{331D8A0E-52D0-A144-A451-08B60D5354E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26277" y="5662545"/>
            <a:ext cx="13525392" cy="9244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992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F2D35F21-531F-9E41-9182-5E3EEF7976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65916" y="3708394"/>
            <a:ext cx="13354836" cy="8803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432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1645260" indent="0">
              <a:buNone/>
              <a:defRPr/>
            </a:lvl2pPr>
            <a:lvl3pPr marL="3290520" indent="0">
              <a:buNone/>
              <a:defRPr/>
            </a:lvl3pPr>
            <a:lvl4pPr marL="4935780" indent="0">
              <a:buNone/>
              <a:defRPr/>
            </a:lvl4pPr>
            <a:lvl5pPr marL="6581052" indent="0">
              <a:buNone/>
              <a:defRPr/>
            </a:lvl5pPr>
          </a:lstStyle>
          <a:p>
            <a:pPr lvl="0"/>
            <a:r>
              <a:rPr lang="en-US"/>
              <a:t>Sponsored by: “Sponsor Name”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2729113F-AAA2-B64A-B331-A1D65EEB87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486486" y="478769"/>
            <a:ext cx="6343656" cy="7247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32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4pPr marL="4935780" indent="0">
              <a:buNone/>
              <a:defRPr/>
            </a:lvl4pPr>
          </a:lstStyle>
          <a:p>
            <a:pPr lvl="0"/>
            <a:r>
              <a:rPr lang="en-US"/>
              <a:t>Team Members</a:t>
            </a:r>
          </a:p>
        </p:txBody>
      </p:sp>
      <p:sp>
        <p:nvSpPr>
          <p:cNvPr id="62" name="Text Placeholder 60">
            <a:extLst>
              <a:ext uri="{FF2B5EF4-FFF2-40B4-BE49-F238E27FC236}">
                <a16:creationId xmlns:a16="http://schemas.microsoft.com/office/drawing/2014/main" id="{BEB75649-4DD7-F046-88EB-2BA1E2EAED5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486486" y="1515407"/>
            <a:ext cx="6343656" cy="30733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4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4pPr marL="4935780" indent="0">
              <a:buNone/>
              <a:defRPr/>
            </a:lvl4pPr>
          </a:lstStyle>
          <a:p>
            <a:pPr lvl="0"/>
            <a:r>
              <a:rPr lang="en-US"/>
              <a:t>Fourth level</a:t>
            </a:r>
          </a:p>
        </p:txBody>
      </p:sp>
      <p:sp>
        <p:nvSpPr>
          <p:cNvPr id="63" name="Text Placeholder 60">
            <a:extLst>
              <a:ext uri="{FF2B5EF4-FFF2-40B4-BE49-F238E27FC236}">
                <a16:creationId xmlns:a16="http://schemas.microsoft.com/office/drawing/2014/main" id="{FD0DDE48-2F60-CC4A-970A-CE26C06F564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87314" y="478769"/>
            <a:ext cx="9597415" cy="8463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32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4pPr marL="4935780" indent="0">
              <a:buNone/>
              <a:defRPr/>
            </a:lvl4pPr>
          </a:lstStyle>
          <a:p>
            <a:pPr algn="l"/>
            <a:r>
              <a:rPr lang="en-US" sz="432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Faculty Course Coordinator</a:t>
            </a:r>
            <a:endParaRPr lang="en-US" sz="1440"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4" name="Text Placeholder 60">
            <a:extLst>
              <a:ext uri="{FF2B5EF4-FFF2-40B4-BE49-F238E27FC236}">
                <a16:creationId xmlns:a16="http://schemas.microsoft.com/office/drawing/2014/main" id="{85DEC6BF-FE18-B443-8C1F-21542A9E89A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287315" y="1547682"/>
            <a:ext cx="6343656" cy="66381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4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4pPr marL="4935780" indent="0">
              <a:buNone/>
              <a:defRPr/>
            </a:lvl4pPr>
          </a:lstStyle>
          <a:p>
            <a:pPr lvl="0"/>
            <a:r>
              <a:rPr lang="en-US"/>
              <a:t>Fourth level</a:t>
            </a:r>
          </a:p>
        </p:txBody>
      </p:sp>
      <p:sp>
        <p:nvSpPr>
          <p:cNvPr id="70" name="Text Placeholder 49">
            <a:extLst>
              <a:ext uri="{FF2B5EF4-FFF2-40B4-BE49-F238E27FC236}">
                <a16:creationId xmlns:a16="http://schemas.microsoft.com/office/drawing/2014/main" id="{32B0986E-F1A6-CA45-80F0-27B2926228B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0606807" y="7223116"/>
            <a:ext cx="12315828" cy="63703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320" b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1645260" indent="0">
              <a:buNone/>
              <a:defRPr/>
            </a:lvl2pPr>
            <a:lvl3pPr marL="3290520" indent="0">
              <a:buNone/>
              <a:defRPr/>
            </a:lvl3pPr>
            <a:lvl4pPr marL="493578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49">
            <a:extLst>
              <a:ext uri="{FF2B5EF4-FFF2-40B4-BE49-F238E27FC236}">
                <a16:creationId xmlns:a16="http://schemas.microsoft.com/office/drawing/2014/main" id="{4D8FC75B-21BD-2F4B-8AD0-F27275D1936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0606807" y="5662546"/>
            <a:ext cx="12315828" cy="121640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4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1645260" indent="0">
              <a:buNone/>
              <a:defRPr/>
            </a:lvl2pPr>
            <a:lvl3pPr marL="3290520" indent="0">
              <a:buNone/>
              <a:defRPr/>
            </a:lvl3pPr>
            <a:lvl4pPr marL="493578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49">
            <a:extLst>
              <a:ext uri="{FF2B5EF4-FFF2-40B4-BE49-F238E27FC236}">
                <a16:creationId xmlns:a16="http://schemas.microsoft.com/office/drawing/2014/main" id="{F95C967C-9609-5248-B209-ED38DDE9587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0606807" y="16184500"/>
            <a:ext cx="12315828" cy="58847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320" b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1645260" indent="0">
              <a:buNone/>
              <a:defRPr/>
            </a:lvl2pPr>
            <a:lvl3pPr marL="3290520" indent="0">
              <a:buNone/>
              <a:defRPr/>
            </a:lvl3pPr>
            <a:lvl4pPr marL="493578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49">
            <a:extLst>
              <a:ext uri="{FF2B5EF4-FFF2-40B4-BE49-F238E27FC236}">
                <a16:creationId xmlns:a16="http://schemas.microsoft.com/office/drawing/2014/main" id="{AAD304A9-24A5-1C4A-A127-E85D160A85A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0606807" y="14280766"/>
            <a:ext cx="12315828" cy="121640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4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1645260" indent="0">
              <a:buNone/>
              <a:defRPr/>
            </a:lvl2pPr>
            <a:lvl3pPr marL="3290520" indent="0">
              <a:buNone/>
              <a:defRPr/>
            </a:lvl3pPr>
            <a:lvl4pPr marL="493578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60">
            <a:extLst>
              <a:ext uri="{FF2B5EF4-FFF2-40B4-BE49-F238E27FC236}">
                <a16:creationId xmlns:a16="http://schemas.microsoft.com/office/drawing/2014/main" id="{20CC3331-724C-2445-B60D-AE80F1B97B1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65922" y="2460489"/>
            <a:ext cx="13354836" cy="8803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32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4pPr marL="4935780" indent="0">
              <a:buNone/>
              <a:defRPr/>
            </a:lvl4pPr>
          </a:lstStyle>
          <a:p>
            <a:pPr lvl="0"/>
            <a:r>
              <a:rPr lang="en-US"/>
              <a:t>“Department Name”</a:t>
            </a:r>
          </a:p>
        </p:txBody>
      </p:sp>
      <p:sp>
        <p:nvSpPr>
          <p:cNvPr id="77" name="Text Placeholder 49">
            <a:extLst>
              <a:ext uri="{FF2B5EF4-FFF2-40B4-BE49-F238E27FC236}">
                <a16:creationId xmlns:a16="http://schemas.microsoft.com/office/drawing/2014/main" id="{8ED906C8-791C-8B47-A246-A337F89E3FC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0066870" y="3445468"/>
            <a:ext cx="6883593" cy="8997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8640" b="1" i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1645260" indent="0">
              <a:buNone/>
              <a:defRPr/>
            </a:lvl2pPr>
            <a:lvl3pPr marL="3290520" indent="0">
              <a:buNone/>
              <a:defRPr/>
            </a:lvl3pPr>
            <a:lvl4pPr marL="4935780" indent="0">
              <a:buNone/>
              <a:defRPr/>
            </a:lvl4pPr>
          </a:lstStyle>
          <a:p>
            <a:pPr lvl="0"/>
            <a:r>
              <a:rPr lang="en-US"/>
              <a:t>Project #</a:t>
            </a:r>
          </a:p>
        </p:txBody>
      </p:sp>
      <p:sp>
        <p:nvSpPr>
          <p:cNvPr id="78" name="Text Placeholder 49">
            <a:extLst>
              <a:ext uri="{FF2B5EF4-FFF2-40B4-BE49-F238E27FC236}">
                <a16:creationId xmlns:a16="http://schemas.microsoft.com/office/drawing/2014/main" id="{B096D7A1-D184-034D-9319-BCC9D88D14A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565921" y="478769"/>
            <a:ext cx="13354831" cy="16376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5760" b="1" i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1645260" indent="0">
              <a:buNone/>
              <a:defRPr/>
            </a:lvl2pPr>
            <a:lvl3pPr marL="3290520" indent="0">
              <a:buNone/>
              <a:defRPr/>
            </a:lvl3pPr>
            <a:lvl4pPr marL="4935780" indent="0">
              <a:buNone/>
              <a:defRPr/>
            </a:lvl4pPr>
          </a:lstStyle>
          <a:p>
            <a:pPr lvl="0"/>
            <a:r>
              <a:rPr lang="en-US"/>
              <a:t>Project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54ACB0-71E3-7885-3344-FFDD65703BCA}"/>
              </a:ext>
            </a:extLst>
          </p:cNvPr>
          <p:cNvSpPr txBox="1"/>
          <p:nvPr userDrawn="1"/>
        </p:nvSpPr>
        <p:spPr>
          <a:xfrm>
            <a:off x="3048006" y="2189022"/>
            <a:ext cx="184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Text Placeholder 60">
            <a:extLst>
              <a:ext uri="{FF2B5EF4-FFF2-40B4-BE49-F238E27FC236}">
                <a16:creationId xmlns:a16="http://schemas.microsoft.com/office/drawing/2014/main" id="{D7CB1472-F4DC-F228-9B53-1FD03C0FA97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2287314" y="2555665"/>
            <a:ext cx="7444541" cy="78519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32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4pPr marL="4935780" indent="0">
              <a:buNone/>
              <a:defRPr/>
            </a:lvl4pPr>
          </a:lstStyle>
          <a:p>
            <a:pPr algn="l"/>
            <a:r>
              <a:rPr lang="en-US" sz="432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Project </a:t>
            </a:r>
            <a:r>
              <a:rPr lang="en-US" sz="432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Advisor</a:t>
            </a:r>
            <a:endParaRPr lang="en-US" sz="144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Text Placeholder 60">
            <a:extLst>
              <a:ext uri="{FF2B5EF4-FFF2-40B4-BE49-F238E27FC236}">
                <a16:creationId xmlns:a16="http://schemas.microsoft.com/office/drawing/2014/main" id="{5D5C94C0-E910-93B4-C5F7-B55D12238C6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2287315" y="3563419"/>
            <a:ext cx="6343656" cy="66381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4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4pPr marL="4935780" indent="0">
              <a:buNone/>
              <a:defRPr/>
            </a:lvl4pPr>
          </a:lstStyle>
          <a:p>
            <a:pPr lvl="0"/>
            <a:r>
              <a:rPr lang="en-US"/>
              <a:t>Fourth level</a:t>
            </a:r>
          </a:p>
        </p:txBody>
      </p:sp>
      <p:sp>
        <p:nvSpPr>
          <p:cNvPr id="4" name="Text Placeholder 49">
            <a:extLst>
              <a:ext uri="{FF2B5EF4-FFF2-40B4-BE49-F238E27FC236}">
                <a16:creationId xmlns:a16="http://schemas.microsoft.com/office/drawing/2014/main" id="{C0C63233-0BD0-EE70-7205-51E84E8693A7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0606807" y="23973955"/>
            <a:ext cx="12315828" cy="68939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320" b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1645260" indent="0">
              <a:buNone/>
              <a:defRPr/>
            </a:lvl2pPr>
            <a:lvl3pPr marL="3290520" indent="0">
              <a:buNone/>
              <a:defRPr/>
            </a:lvl3pPr>
            <a:lvl4pPr marL="493578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9">
            <a:extLst>
              <a:ext uri="{FF2B5EF4-FFF2-40B4-BE49-F238E27FC236}">
                <a16:creationId xmlns:a16="http://schemas.microsoft.com/office/drawing/2014/main" id="{98D5F640-4D05-FD86-6EF9-80B94ABB7DC9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0606807" y="22413385"/>
            <a:ext cx="12315828" cy="121640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4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1645260" indent="0">
              <a:buNone/>
              <a:defRPr/>
            </a:lvl2pPr>
            <a:lvl3pPr marL="3290520" indent="0">
              <a:buNone/>
              <a:defRPr/>
            </a:lvl3pPr>
            <a:lvl4pPr marL="493578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36">
            <a:extLst>
              <a:ext uri="{FF2B5EF4-FFF2-40B4-BE49-F238E27FC236}">
                <a16:creationId xmlns:a16="http://schemas.microsoft.com/office/drawing/2014/main" id="{3EF891AE-3014-7B8D-BC5A-C7F85CABC5B2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16116542" y="5662546"/>
            <a:ext cx="13525392" cy="92449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992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36">
            <a:extLst>
              <a:ext uri="{FF2B5EF4-FFF2-40B4-BE49-F238E27FC236}">
                <a16:creationId xmlns:a16="http://schemas.microsoft.com/office/drawing/2014/main" id="{B5F491EB-A441-CC19-2511-80253E62BC4C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626277" y="15497170"/>
            <a:ext cx="13525392" cy="99653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992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36">
            <a:extLst>
              <a:ext uri="{FF2B5EF4-FFF2-40B4-BE49-F238E27FC236}">
                <a16:creationId xmlns:a16="http://schemas.microsoft.com/office/drawing/2014/main" id="{E5561193-5DE2-0165-4EEB-4749F6635190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6116542" y="15497170"/>
            <a:ext cx="6521785" cy="46750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992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36">
            <a:extLst>
              <a:ext uri="{FF2B5EF4-FFF2-40B4-BE49-F238E27FC236}">
                <a16:creationId xmlns:a16="http://schemas.microsoft.com/office/drawing/2014/main" id="{0DC11D91-B5C7-B57D-D4CF-B55B31E97A9D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23120149" y="15497170"/>
            <a:ext cx="6521785" cy="46750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992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Picture Placeholder 36">
            <a:extLst>
              <a:ext uri="{FF2B5EF4-FFF2-40B4-BE49-F238E27FC236}">
                <a16:creationId xmlns:a16="http://schemas.microsoft.com/office/drawing/2014/main" id="{CD24241F-0660-A88F-F6E7-998381CCE253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16116542" y="20789606"/>
            <a:ext cx="6521785" cy="46750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992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Picture Placeholder 36">
            <a:extLst>
              <a:ext uri="{FF2B5EF4-FFF2-40B4-BE49-F238E27FC236}">
                <a16:creationId xmlns:a16="http://schemas.microsoft.com/office/drawing/2014/main" id="{F6A28E6F-30E1-3F80-4D47-D6BF0E229CCE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23120149" y="20789606"/>
            <a:ext cx="6521785" cy="46750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992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697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68" userDrawn="1">
          <p15:clr>
            <a:srgbClr val="FBAE40"/>
          </p15:clr>
        </p15:guide>
        <p15:guide id="2" pos="13824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E3FB7E-6C35-F98F-1BF3-8754B72FB0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5400000">
            <a:off x="19427634" y="-19494012"/>
            <a:ext cx="5035956" cy="43891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124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7EAC6D-DEFE-ECDA-51F1-C6442454F33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rcRect/>
          <a:stretch/>
        </p:blipFill>
        <p:spPr>
          <a:xfrm>
            <a:off x="36793410" y="828720"/>
            <a:ext cx="5756916" cy="32662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3CC34A0-AA20-C30D-86DB-2D1525F9EB6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1585382" y="31459278"/>
            <a:ext cx="20964944" cy="849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329052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780" b="0" i="0" u="none" strike="noStrike" cap="none" spc="2160">
                <a:solidFill>
                  <a:schemeClr val="bg2">
                    <a:lumMod val="75000"/>
                  </a:schemeClr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Arial"/>
              </a:rPr>
              <a:t>SENIOR DESIGN SHOWCASE | FALL 2025</a:t>
            </a:r>
          </a:p>
        </p:txBody>
      </p:sp>
      <p:pic>
        <p:nvPicPr>
          <p:cNvPr id="6" name="Picture 5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2FD32501-E43A-6356-0456-A00FEE09EFE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340874" y="29581334"/>
            <a:ext cx="12624508" cy="2302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330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4387368" rtl="0" eaLnBrk="1" latinLnBrk="0" hangingPunct="1">
        <a:lnSpc>
          <a:spcPct val="90000"/>
        </a:lnSpc>
        <a:spcBef>
          <a:spcPct val="0"/>
        </a:spcBef>
        <a:buNone/>
        <a:defRPr sz="2110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6836" indent="-1096836" algn="l" defTabSz="4387368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0520" indent="-1096836" algn="l" defTabSz="4387368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4204" indent="-1096836" algn="l" defTabSz="4387368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77888" indent="-1096836" algn="l" defTabSz="4387368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1572" indent="-1096836" algn="l" defTabSz="4387368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65256" indent="-1096836" algn="l" defTabSz="4387368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58940" indent="-1096836" algn="l" defTabSz="4387368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2612" indent="-1096836" algn="l" defTabSz="4387368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46296" indent="-1096836" algn="l" defTabSz="4387368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7368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3684" algn="l" defTabSz="4387368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7368" algn="l" defTabSz="4387368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1052" algn="l" defTabSz="4387368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4724" algn="l" defTabSz="4387368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68408" algn="l" defTabSz="4387368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2092" algn="l" defTabSz="4387368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55776" algn="l" defTabSz="4387368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49460" algn="l" defTabSz="4387368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368" userDrawn="1">
          <p15:clr>
            <a:srgbClr val="F26B43"/>
          </p15:clr>
        </p15:guide>
        <p15:guide id="2" pos="1382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0.jpeg"/><Relationship Id="rId5" Type="http://schemas.openxmlformats.org/officeDocument/2006/relationships/image" Target="../media/image5.png"/><Relationship Id="rId10" Type="http://schemas.microsoft.com/office/2007/relationships/hdphoto" Target="../media/hdphoto1.wdp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10">
            <a:extLst>
              <a:ext uri="{FF2B5EF4-FFF2-40B4-BE49-F238E27FC236}">
                <a16:creationId xmlns:a16="http://schemas.microsoft.com/office/drawing/2014/main" id="{C8C2276F-D017-1D4D-8B1D-0CE8696E26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6276" y="2170920"/>
            <a:ext cx="11395716" cy="143118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>
                <a:solidFill>
                  <a:schemeClr val="bg1"/>
                </a:solidFill>
              </a:rPr>
              <a:t>EGN 4952C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>
                <a:solidFill>
                  <a:schemeClr val="bg1"/>
                </a:solidFill>
              </a:rPr>
              <a:t>Electrical Engineering &amp; Computer S</a:t>
            </a:r>
            <a:r>
              <a:rPr lang="en-US"/>
              <a:t>cience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30F6D8D-3273-3645-AD1D-FA548DA970D7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626276" y="809616"/>
            <a:ext cx="8426448" cy="1646232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Lato"/>
                <a:ea typeface="Lato"/>
                <a:cs typeface="Lato"/>
              </a:rPr>
              <a:t>Underwater Multimodal Modem for </a:t>
            </a:r>
            <a:r>
              <a:rPr lang="en-US" sz="5400" b="1" dirty="0" err="1">
                <a:solidFill>
                  <a:schemeClr val="bg1"/>
                </a:solidFill>
                <a:latin typeface="Lato"/>
                <a:ea typeface="Lato"/>
                <a:cs typeface="Lato"/>
              </a:rPr>
              <a:t>KnifeBot</a:t>
            </a:r>
            <a:endParaRPr lang="en-US" sz="5400" b="1" dirty="0">
              <a:solidFill>
                <a:schemeClr val="bg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12" name="Subtitle 10">
            <a:extLst>
              <a:ext uri="{FF2B5EF4-FFF2-40B4-BE49-F238E27FC236}">
                <a16:creationId xmlns:a16="http://schemas.microsoft.com/office/drawing/2014/main" id="{44697D68-8B55-2B44-ADC4-DFE244818CBD}"/>
              </a:ext>
            </a:extLst>
          </p:cNvPr>
          <p:cNvSpPr txBox="1">
            <a:spLocks/>
          </p:cNvSpPr>
          <p:nvPr/>
        </p:nvSpPr>
        <p:spPr>
          <a:xfrm>
            <a:off x="14714196" y="607832"/>
            <a:ext cx="6495528" cy="1097280"/>
          </a:xfrm>
          <a:prstGeom prst="rect">
            <a:avLst/>
          </a:prstGeom>
        </p:spPr>
        <p:txBody>
          <a:bodyPr vert="horz" lIns="329184" tIns="164592" rIns="329184" bIns="164592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432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Team Members </a:t>
            </a:r>
            <a:endParaRPr lang="en-US" sz="144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Subtitle 10">
            <a:extLst>
              <a:ext uri="{FF2B5EF4-FFF2-40B4-BE49-F238E27FC236}">
                <a16:creationId xmlns:a16="http://schemas.microsoft.com/office/drawing/2014/main" id="{D6644BF5-580B-6149-8DC6-C3C5552F35D6}"/>
              </a:ext>
            </a:extLst>
          </p:cNvPr>
          <p:cNvSpPr txBox="1">
            <a:spLocks/>
          </p:cNvSpPr>
          <p:nvPr/>
        </p:nvSpPr>
        <p:spPr>
          <a:xfrm>
            <a:off x="14848016" y="1528960"/>
            <a:ext cx="3668113" cy="3018811"/>
          </a:xfrm>
          <a:prstGeom prst="rect">
            <a:avLst/>
          </a:prstGeom>
        </p:spPr>
        <p:txBody>
          <a:bodyPr vert="horz" lIns="329184" tIns="164592" rIns="329184" bIns="164592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sz="3200" b="0" dirty="0">
                <a:solidFill>
                  <a:schemeClr val="bg1"/>
                </a:solidFill>
                <a:latin typeface="Lato"/>
                <a:ea typeface="Lato"/>
                <a:cs typeface="Lato"/>
              </a:rPr>
              <a:t>Jeremy </a:t>
            </a:r>
            <a:r>
              <a:rPr lang="en-US" sz="3200" b="0" dirty="0" err="1">
                <a:solidFill>
                  <a:schemeClr val="bg1"/>
                </a:solidFill>
                <a:latin typeface="Lato"/>
                <a:ea typeface="Lato"/>
                <a:cs typeface="Lato"/>
              </a:rPr>
              <a:t>Thyn</a:t>
            </a:r>
            <a:br>
              <a:rPr lang="en-US" sz="3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3200" b="0" dirty="0">
                <a:solidFill>
                  <a:schemeClr val="bg1"/>
                </a:solidFill>
                <a:latin typeface="Lato"/>
                <a:ea typeface="Lato"/>
                <a:cs typeface="Lato"/>
              </a:rPr>
              <a:t>David </a:t>
            </a:r>
            <a:r>
              <a:rPr lang="en-US" sz="3200" b="0" dirty="0" err="1">
                <a:solidFill>
                  <a:schemeClr val="bg1"/>
                </a:solidFill>
                <a:latin typeface="Lato"/>
                <a:ea typeface="Lato"/>
                <a:cs typeface="Lato"/>
              </a:rPr>
              <a:t>Osemene</a:t>
            </a:r>
            <a:br>
              <a:rPr lang="en-US" sz="3200" dirty="0">
                <a:latin typeface="Lato"/>
                <a:ea typeface="Lato"/>
                <a:cs typeface="Lato"/>
              </a:rPr>
            </a:br>
            <a:r>
              <a:rPr lang="en-US" sz="3200" b="0" dirty="0">
                <a:solidFill>
                  <a:schemeClr val="bg1"/>
                </a:solidFill>
                <a:latin typeface="Lato"/>
                <a:ea typeface="Lato"/>
                <a:cs typeface="Lato"/>
              </a:rPr>
              <a:t>Nicholas Alberto </a:t>
            </a:r>
            <a:endParaRPr lang="en-US" sz="3200" dirty="0">
              <a:solidFill>
                <a:schemeClr val="bg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17" name="Subtitle 10">
            <a:extLst>
              <a:ext uri="{FF2B5EF4-FFF2-40B4-BE49-F238E27FC236}">
                <a16:creationId xmlns:a16="http://schemas.microsoft.com/office/drawing/2014/main" id="{78B616E3-9E24-1248-8A4D-D77D57F7DC50}"/>
              </a:ext>
            </a:extLst>
          </p:cNvPr>
          <p:cNvSpPr txBox="1">
            <a:spLocks/>
          </p:cNvSpPr>
          <p:nvPr/>
        </p:nvSpPr>
        <p:spPr>
          <a:xfrm>
            <a:off x="23955004" y="3179011"/>
            <a:ext cx="6495528" cy="1097280"/>
          </a:xfrm>
          <a:prstGeom prst="rect">
            <a:avLst/>
          </a:prstGeom>
        </p:spPr>
        <p:txBody>
          <a:bodyPr vert="horz" lIns="329184" tIns="164592" rIns="329184" bIns="164592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432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Project Advisor</a:t>
            </a:r>
            <a:endParaRPr lang="en-US" sz="144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" name="Subtitle 10">
            <a:extLst>
              <a:ext uri="{FF2B5EF4-FFF2-40B4-BE49-F238E27FC236}">
                <a16:creationId xmlns:a16="http://schemas.microsoft.com/office/drawing/2014/main" id="{05A6504A-4348-D34A-8A53-B525BDB90512}"/>
              </a:ext>
            </a:extLst>
          </p:cNvPr>
          <p:cNvSpPr txBox="1">
            <a:spLocks/>
          </p:cNvSpPr>
          <p:nvPr/>
        </p:nvSpPr>
        <p:spPr>
          <a:xfrm>
            <a:off x="23955003" y="4080343"/>
            <a:ext cx="8425547" cy="971819"/>
          </a:xfrm>
          <a:prstGeom prst="rect">
            <a:avLst/>
          </a:prstGeom>
        </p:spPr>
        <p:txBody>
          <a:bodyPr vert="horz" lIns="329184" tIns="164592" rIns="329184" bIns="164592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b="0">
                <a:solidFill>
                  <a:schemeClr val="bg1"/>
                </a:solidFill>
                <a:latin typeface="Lato"/>
                <a:ea typeface="Lato"/>
                <a:cs typeface="Lato"/>
              </a:rPr>
              <a:t>Waseem Asghar</a:t>
            </a:r>
            <a:endParaRPr lang="en-US" sz="3200">
              <a:solidFill>
                <a:schemeClr val="bg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19" name="Title 9">
            <a:extLst>
              <a:ext uri="{FF2B5EF4-FFF2-40B4-BE49-F238E27FC236}">
                <a16:creationId xmlns:a16="http://schemas.microsoft.com/office/drawing/2014/main" id="{170C0395-DFA3-F44D-A3EA-10AA82747FB0}"/>
              </a:ext>
            </a:extLst>
          </p:cNvPr>
          <p:cNvSpPr txBox="1">
            <a:spLocks/>
          </p:cNvSpPr>
          <p:nvPr/>
        </p:nvSpPr>
        <p:spPr>
          <a:xfrm>
            <a:off x="29562452" y="5352655"/>
            <a:ext cx="8425548" cy="1058088"/>
          </a:xfrm>
          <a:prstGeom prst="rect">
            <a:avLst/>
          </a:prstGeom>
        </p:spPr>
        <p:txBody>
          <a:bodyPr vert="horz" lIns="329184" tIns="164592" rIns="329184" bIns="164592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pPr algn="l"/>
            <a:r>
              <a:rPr lang="en-US" sz="5000">
                <a:latin typeface="Lato"/>
                <a:ea typeface="Lato"/>
                <a:cs typeface="Lato"/>
              </a:rPr>
              <a:t>Problem Statement</a:t>
            </a:r>
          </a:p>
        </p:txBody>
      </p:sp>
      <p:sp>
        <p:nvSpPr>
          <p:cNvPr id="20" name="Subtitle 10">
            <a:extLst>
              <a:ext uri="{FF2B5EF4-FFF2-40B4-BE49-F238E27FC236}">
                <a16:creationId xmlns:a16="http://schemas.microsoft.com/office/drawing/2014/main" id="{A58C0700-3F13-EC47-AD08-0B5FFC38DF34}"/>
              </a:ext>
            </a:extLst>
          </p:cNvPr>
          <p:cNvSpPr txBox="1">
            <a:spLocks/>
          </p:cNvSpPr>
          <p:nvPr/>
        </p:nvSpPr>
        <p:spPr>
          <a:xfrm>
            <a:off x="29548468" y="6360623"/>
            <a:ext cx="13530193" cy="8003415"/>
          </a:xfrm>
          <a:prstGeom prst="rect">
            <a:avLst/>
          </a:prstGeom>
        </p:spPr>
        <p:txBody>
          <a:bodyPr vert="horz" lIns="329184" tIns="164592" rIns="329184" bIns="164592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en-US" sz="3800" b="0" dirty="0">
                <a:latin typeface="Lato"/>
                <a:ea typeface="Lato"/>
                <a:cs typeface="Lato"/>
              </a:rPr>
              <a:t>Ocean researchers, offshore industry, and government naval operations  all require communication networks that can send data across the ocean under the water. However, this can be a challenge especially with higher frequency communications (High attenuation in sea water </a:t>
            </a:r>
            <a:r>
              <a:rPr lang="en-US" sz="3800" b="0">
                <a:latin typeface="Lato"/>
                <a:ea typeface="Lato"/>
                <a:cs typeface="Lato"/>
              </a:rPr>
              <a:t>at 100 kHz+). Our communication network takes advantage </a:t>
            </a:r>
            <a:r>
              <a:rPr lang="en-US" sz="3800" b="0" dirty="0">
                <a:latin typeface="Lato"/>
                <a:ea typeface="Lato"/>
                <a:cs typeface="Lato"/>
              </a:rPr>
              <a:t>of underwater acoustic (UW-A) and underwater optical (UW-O) modems to maximize data throughput by switching which modem is active based on the data being transmitted and the conditions of the water.</a:t>
            </a:r>
          </a:p>
        </p:txBody>
      </p:sp>
      <p:sp>
        <p:nvSpPr>
          <p:cNvPr id="26" name="Subtitle 10">
            <a:extLst>
              <a:ext uri="{FF2B5EF4-FFF2-40B4-BE49-F238E27FC236}">
                <a16:creationId xmlns:a16="http://schemas.microsoft.com/office/drawing/2014/main" id="{A2AB0AFC-26A8-BB49-A0BA-9F2DD68EB481}"/>
              </a:ext>
            </a:extLst>
          </p:cNvPr>
          <p:cNvSpPr txBox="1">
            <a:spLocks/>
          </p:cNvSpPr>
          <p:nvPr/>
        </p:nvSpPr>
        <p:spPr>
          <a:xfrm>
            <a:off x="1358600" y="3616278"/>
            <a:ext cx="10816044" cy="1436326"/>
          </a:xfrm>
          <a:prstGeom prst="rect">
            <a:avLst/>
          </a:prstGeom>
        </p:spPr>
        <p:txBody>
          <a:bodyPr vert="horz" lIns="329184" tIns="164592" rIns="329184" bIns="164592" rtlCol="0" anchor="t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4300" dirty="0">
                <a:solidFill>
                  <a:schemeClr val="bg1"/>
                </a:solidFill>
                <a:latin typeface="Lato"/>
                <a:ea typeface="Lato"/>
                <a:cs typeface="Lato"/>
              </a:rPr>
              <a:t>Sponsored by: Dr. Georgios </a:t>
            </a:r>
            <a:r>
              <a:rPr lang="en-US" sz="4300" dirty="0" err="1">
                <a:solidFill>
                  <a:schemeClr val="bg1"/>
                </a:solidFill>
                <a:latin typeface="Lato"/>
                <a:ea typeface="Lato"/>
                <a:cs typeface="Lato"/>
              </a:rPr>
              <a:t>Sklivanitis</a:t>
            </a:r>
            <a:r>
              <a:rPr lang="en-US" sz="4300" dirty="0">
                <a:solidFill>
                  <a:schemeClr val="bg1"/>
                </a:solidFill>
                <a:latin typeface="Lato"/>
                <a:ea typeface="Lato"/>
                <a:cs typeface="Lato"/>
              </a:rPr>
              <a:t>, </a:t>
            </a:r>
            <a:endParaRPr lang="en-US" sz="4300" b="0" dirty="0" err="1">
              <a:solidFill>
                <a:schemeClr val="bg1"/>
              </a:solidFill>
              <a:latin typeface="Lato"/>
              <a:ea typeface="Lato"/>
              <a:cs typeface="Lato"/>
            </a:endParaRPr>
          </a:p>
          <a:p>
            <a:pPr algn="l"/>
            <a:r>
              <a:rPr lang="en-US" sz="4300">
                <a:solidFill>
                  <a:schemeClr val="bg1"/>
                </a:solidFill>
                <a:latin typeface="Lato"/>
                <a:ea typeface="Lato"/>
                <a:cs typeface="Lato"/>
              </a:rPr>
              <a:t>Center for </a:t>
            </a:r>
            <a:r>
              <a:rPr lang="en-US" sz="4300" dirty="0">
                <a:solidFill>
                  <a:schemeClr val="bg1"/>
                </a:solidFill>
                <a:latin typeface="Lato"/>
                <a:ea typeface="Lato"/>
                <a:cs typeface="Lato"/>
              </a:rPr>
              <a:t>Connected Autonomy and AI</a:t>
            </a:r>
            <a:endParaRPr lang="en-US" sz="4300" b="0" dirty="0">
              <a:solidFill>
                <a:schemeClr val="bg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5" name="Title 9">
            <a:extLst>
              <a:ext uri="{FF2B5EF4-FFF2-40B4-BE49-F238E27FC236}">
                <a16:creationId xmlns:a16="http://schemas.microsoft.com/office/drawing/2014/main" id="{7C332BCD-FDD9-F94C-93CB-86E8BA8561F2}"/>
              </a:ext>
            </a:extLst>
          </p:cNvPr>
          <p:cNvSpPr txBox="1">
            <a:spLocks/>
          </p:cNvSpPr>
          <p:nvPr/>
        </p:nvSpPr>
        <p:spPr>
          <a:xfrm>
            <a:off x="29447965" y="13860941"/>
            <a:ext cx="13480872" cy="1058088"/>
          </a:xfrm>
          <a:prstGeom prst="rect">
            <a:avLst/>
          </a:prstGeom>
        </p:spPr>
        <p:txBody>
          <a:bodyPr vert="horz" lIns="329184" tIns="164592" rIns="329184" bIns="164592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pPr algn="l"/>
            <a:r>
              <a:rPr lang="en-US" sz="504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Results</a:t>
            </a:r>
          </a:p>
        </p:txBody>
      </p:sp>
      <p:sp>
        <p:nvSpPr>
          <p:cNvPr id="36" name="Subtitle 10">
            <a:extLst>
              <a:ext uri="{FF2B5EF4-FFF2-40B4-BE49-F238E27FC236}">
                <a16:creationId xmlns:a16="http://schemas.microsoft.com/office/drawing/2014/main" id="{9F3EBA96-28C0-F047-947C-38EB7C9FB55F}"/>
              </a:ext>
            </a:extLst>
          </p:cNvPr>
          <p:cNvSpPr txBox="1">
            <a:spLocks/>
          </p:cNvSpPr>
          <p:nvPr/>
        </p:nvSpPr>
        <p:spPr>
          <a:xfrm>
            <a:off x="29383670" y="14930891"/>
            <a:ext cx="13667040" cy="5251272"/>
          </a:xfrm>
          <a:prstGeom prst="rect">
            <a:avLst/>
          </a:prstGeom>
        </p:spPr>
        <p:txBody>
          <a:bodyPr vert="horz" lIns="329184" tIns="164592" rIns="329184" bIns="164592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 algn="l">
              <a:lnSpc>
                <a:spcPct val="120000"/>
              </a:lnSpc>
              <a:buFont typeface="Calibri" panose="020B0604020202020204" pitchFamily="34" charset="0"/>
              <a:buChar char="-"/>
            </a:pPr>
            <a:r>
              <a:rPr lang="en-US" sz="3700" b="0">
                <a:latin typeface="Lato"/>
                <a:ea typeface="Lato"/>
                <a:cs typeface="Lato"/>
              </a:rPr>
              <a:t>Serial sensor data transmission through UW-A up to 10 kbps and video streaming with the UW-O at 2 Mbps for 480p 30 fps and, in ideal conditions, ~20dB SNR. </a:t>
            </a:r>
            <a:endParaRPr lang="en-US" sz="3700" b="0" dirty="0">
              <a:latin typeface="Lato"/>
              <a:ea typeface="Lato"/>
              <a:cs typeface="Lato"/>
            </a:endParaRPr>
          </a:p>
          <a:p>
            <a:pPr marL="571500" indent="-571500" algn="l">
              <a:lnSpc>
                <a:spcPct val="120000"/>
              </a:lnSpc>
              <a:buFont typeface="Calibri" panose="020B0604020202020204" pitchFamily="34" charset="0"/>
              <a:buChar char="-"/>
            </a:pPr>
            <a:r>
              <a:rPr lang="en-US" sz="3700" b="0">
                <a:latin typeface="Lato"/>
                <a:ea typeface="Lato"/>
                <a:cs typeface="Lato"/>
              </a:rPr>
              <a:t>Estimated battery life of around 8 hours of active transmission with a 266Wh battery with battery drainage protection </a:t>
            </a:r>
            <a:r>
              <a:rPr lang="en-US" sz="3700" b="0" dirty="0">
                <a:latin typeface="Lato"/>
                <a:ea typeface="Lato"/>
                <a:cs typeface="Lato"/>
              </a:rPr>
              <a:t>on PCB.</a:t>
            </a:r>
          </a:p>
          <a:p>
            <a:pPr marL="571500" indent="-571500" algn="l">
              <a:lnSpc>
                <a:spcPct val="120000"/>
              </a:lnSpc>
              <a:buFont typeface="Calibri" panose="020B0604020202020204" pitchFamily="34" charset="0"/>
              <a:buChar char="-"/>
            </a:pPr>
            <a:r>
              <a:rPr lang="en-US" sz="3700" b="0">
                <a:latin typeface="Lato"/>
                <a:ea typeface="Lato"/>
                <a:cs typeface="Lato"/>
              </a:rPr>
              <a:t>Each set of units fit in a custom waterproof container (11.8" x 4" x 5" &amp; 11.8" x 8" x 9") including modems, PCB, battery, sensors, RPi 5 compute &amp; breakout, and Teensy </a:t>
            </a:r>
            <a:r>
              <a:rPr lang="en-US" sz="3700" b="0" dirty="0">
                <a:latin typeface="Lato"/>
                <a:ea typeface="Lato"/>
                <a:cs typeface="Lato"/>
              </a:rPr>
              <a:t>4.1.</a:t>
            </a:r>
          </a:p>
          <a:p>
            <a:pPr marL="571500" indent="-571500" algn="l">
              <a:lnSpc>
                <a:spcPct val="120000"/>
              </a:lnSpc>
              <a:buFont typeface="Calibri" panose="020B0604020202020204" pitchFamily="34" charset="0"/>
              <a:buChar char="-"/>
            </a:pPr>
            <a:endParaRPr lang="en-US" sz="3950" b="0" dirty="0">
              <a:latin typeface="Lato"/>
              <a:ea typeface="Lato"/>
              <a:cs typeface="Lato"/>
            </a:endParaRPr>
          </a:p>
          <a:p>
            <a:pPr marL="571500" indent="-571500" algn="l">
              <a:lnSpc>
                <a:spcPct val="120000"/>
              </a:lnSpc>
              <a:buFont typeface="Calibri" panose="020B0604020202020204" pitchFamily="34" charset="0"/>
              <a:buChar char="-"/>
            </a:pPr>
            <a:endParaRPr lang="en-US" sz="3950" b="0" dirty="0">
              <a:latin typeface="Lato"/>
              <a:ea typeface="Lato"/>
              <a:cs typeface="Lato"/>
            </a:endParaRPr>
          </a:p>
          <a:p>
            <a:pPr marL="571500" indent="-571500" algn="l">
              <a:lnSpc>
                <a:spcPct val="120000"/>
              </a:lnSpc>
              <a:buFont typeface="Calibri" panose="020B0604020202020204" pitchFamily="34" charset="0"/>
              <a:buChar char="-"/>
            </a:pPr>
            <a:endParaRPr lang="en-US" sz="3950" b="0" dirty="0">
              <a:latin typeface="Lato"/>
              <a:ea typeface="Lato"/>
              <a:cs typeface="Lato"/>
            </a:endParaRPr>
          </a:p>
          <a:p>
            <a:pPr marL="571500" indent="-571500" algn="l">
              <a:lnSpc>
                <a:spcPct val="120000"/>
              </a:lnSpc>
              <a:buFont typeface="Calibri" panose="020B0604020202020204" pitchFamily="34" charset="0"/>
              <a:buChar char="-"/>
            </a:pPr>
            <a:endParaRPr lang="en-US" sz="3950" b="0" dirty="0">
              <a:latin typeface="Lato"/>
              <a:ea typeface="Lato"/>
              <a:cs typeface="Lato"/>
            </a:endParaRPr>
          </a:p>
          <a:p>
            <a:pPr marL="571500" indent="-571500" algn="l">
              <a:lnSpc>
                <a:spcPct val="120000"/>
              </a:lnSpc>
              <a:buFont typeface="Calibri" panose="020B0604020202020204" pitchFamily="34" charset="0"/>
              <a:buChar char="-"/>
            </a:pPr>
            <a:endParaRPr lang="en-US" sz="3950" b="0" dirty="0">
              <a:latin typeface="Lato"/>
              <a:ea typeface="Lato"/>
              <a:cs typeface="Lato"/>
            </a:endParaRPr>
          </a:p>
          <a:p>
            <a:pPr marL="571500" indent="-571500" algn="l">
              <a:lnSpc>
                <a:spcPct val="120000"/>
              </a:lnSpc>
              <a:buFont typeface="Calibri" panose="020B0604020202020204" pitchFamily="34" charset="0"/>
              <a:buChar char="-"/>
            </a:pPr>
            <a:endParaRPr lang="en-US" sz="3950" b="0" dirty="0">
              <a:latin typeface="Lato"/>
              <a:ea typeface="Lato"/>
              <a:cs typeface="Lato"/>
            </a:endParaRPr>
          </a:p>
          <a:p>
            <a:pPr marL="571500" indent="-571500" algn="l">
              <a:lnSpc>
                <a:spcPct val="120000"/>
              </a:lnSpc>
              <a:buFont typeface="Calibri" panose="020B0604020202020204" pitchFamily="34" charset="0"/>
              <a:buChar char="-"/>
            </a:pPr>
            <a:endParaRPr lang="en-US" sz="3950" b="0">
              <a:latin typeface="Lato"/>
              <a:ea typeface="Lato"/>
              <a:cs typeface="Lato"/>
            </a:endParaRPr>
          </a:p>
        </p:txBody>
      </p:sp>
      <p:sp>
        <p:nvSpPr>
          <p:cNvPr id="38" name="Subtitle 10">
            <a:extLst>
              <a:ext uri="{FF2B5EF4-FFF2-40B4-BE49-F238E27FC236}">
                <a16:creationId xmlns:a16="http://schemas.microsoft.com/office/drawing/2014/main" id="{5B34A1AA-D693-3B48-8609-BFACDADAB9B1}"/>
              </a:ext>
            </a:extLst>
          </p:cNvPr>
          <p:cNvSpPr txBox="1">
            <a:spLocks/>
          </p:cNvSpPr>
          <p:nvPr/>
        </p:nvSpPr>
        <p:spPr>
          <a:xfrm>
            <a:off x="29578056" y="22790955"/>
            <a:ext cx="13756248" cy="8824950"/>
          </a:xfrm>
          <a:prstGeom prst="rect">
            <a:avLst/>
          </a:prstGeom>
        </p:spPr>
        <p:txBody>
          <a:bodyPr vert="horz" lIns="329184" tIns="164592" rIns="329184" bIns="164592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800" b="0" dirty="0">
                <a:latin typeface="Lato"/>
                <a:ea typeface="Lato"/>
                <a:cs typeface="Lato"/>
              </a:rPr>
              <a:t>Difficulties including dealing with different communication protocols along with testing the modems in different conditions and creating the electrical and </a:t>
            </a:r>
            <a:r>
              <a:rPr lang="en-US" sz="3800" b="0" dirty="0" err="1">
                <a:latin typeface="Lato"/>
                <a:ea typeface="Lato"/>
                <a:cs typeface="Lato"/>
              </a:rPr>
              <a:t>mechanica</a:t>
            </a:r>
            <a:r>
              <a:rPr lang="en-US" sz="3800" b="0" dirty="0">
                <a:latin typeface="Lato"/>
                <a:ea typeface="Lato"/>
                <a:cs typeface="Lato"/>
              </a:rPr>
              <a:t>l components were the bulk of the work. </a:t>
            </a:r>
            <a:r>
              <a:rPr lang="en-US" sz="3800" b="0">
                <a:latin typeface="Lato"/>
                <a:ea typeface="Lato"/>
                <a:cs typeface="Lato"/>
              </a:rPr>
              <a:t>Overall,</a:t>
            </a:r>
            <a:r>
              <a:rPr lang="en-US" sz="3800" b="0" dirty="0">
                <a:latin typeface="Lato"/>
                <a:ea typeface="Lato"/>
                <a:cs typeface="Lato"/>
              </a:rPr>
              <a:t> between the technical and time management difficulties faced we have learned a lot and have a deeper understanding of what it means to work within an engineering team.</a:t>
            </a:r>
          </a:p>
          <a:p>
            <a:pPr algn="just"/>
            <a:endParaRPr lang="en-US" sz="3800" b="0" dirty="0">
              <a:latin typeface="Lato"/>
              <a:ea typeface="Lato"/>
              <a:cs typeface="Lato"/>
            </a:endParaRPr>
          </a:p>
          <a:p>
            <a:pPr algn="just"/>
            <a:r>
              <a:rPr lang="en-US" sz="3800" b="0" dirty="0">
                <a:latin typeface="Lato"/>
                <a:ea typeface="Lato"/>
                <a:cs typeface="Lato"/>
              </a:rPr>
              <a:t>This system can be applied to ocean reef research (this project is designed specifically for integration with another project, the </a:t>
            </a:r>
            <a:r>
              <a:rPr lang="en-US" sz="3800" b="0" dirty="0" err="1">
                <a:latin typeface="Lato"/>
                <a:ea typeface="Lato"/>
                <a:cs typeface="Lato"/>
              </a:rPr>
              <a:t>KnifeBot</a:t>
            </a:r>
            <a:r>
              <a:rPr lang="en-US" sz="3800" b="0" dirty="0">
                <a:latin typeface="Lato"/>
                <a:ea typeface="Lato"/>
                <a:cs typeface="Lato"/>
              </a:rPr>
              <a:t>). Otherwise, this technology can be used with military autonomous drones, live monitoring of underwater cables, or even deep-sea research missions with autonomous drones.</a:t>
            </a:r>
          </a:p>
          <a:p>
            <a:pPr algn="just">
              <a:lnSpc>
                <a:spcPct val="120000"/>
              </a:lnSpc>
            </a:pPr>
            <a:endParaRPr lang="en-US" sz="3950" b="0">
              <a:latin typeface="Lato"/>
              <a:ea typeface="Lato"/>
              <a:cs typeface="Lato"/>
            </a:endParaRPr>
          </a:p>
        </p:txBody>
      </p:sp>
      <p:sp>
        <p:nvSpPr>
          <p:cNvPr id="39" name="Title 9">
            <a:extLst>
              <a:ext uri="{FF2B5EF4-FFF2-40B4-BE49-F238E27FC236}">
                <a16:creationId xmlns:a16="http://schemas.microsoft.com/office/drawing/2014/main" id="{185DC81F-62AF-1B43-8DBF-93E95C4533B3}"/>
              </a:ext>
            </a:extLst>
          </p:cNvPr>
          <p:cNvSpPr txBox="1">
            <a:spLocks/>
          </p:cNvSpPr>
          <p:nvPr/>
        </p:nvSpPr>
        <p:spPr>
          <a:xfrm>
            <a:off x="29675574" y="21716042"/>
            <a:ext cx="13480872" cy="1058088"/>
          </a:xfrm>
          <a:prstGeom prst="rect">
            <a:avLst/>
          </a:prstGeom>
        </p:spPr>
        <p:txBody>
          <a:bodyPr vert="horz" lIns="329184" tIns="164592" rIns="329184" bIns="164592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pPr algn="l"/>
            <a:r>
              <a:rPr lang="en-US" sz="504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Conclusions &amp; Impact</a:t>
            </a:r>
          </a:p>
        </p:txBody>
      </p:sp>
      <p:sp>
        <p:nvSpPr>
          <p:cNvPr id="40" name="Title 9">
            <a:extLst>
              <a:ext uri="{FF2B5EF4-FFF2-40B4-BE49-F238E27FC236}">
                <a16:creationId xmlns:a16="http://schemas.microsoft.com/office/drawing/2014/main" id="{6F292AEB-E8FF-2440-875D-41792ECECC6A}"/>
              </a:ext>
            </a:extLst>
          </p:cNvPr>
          <p:cNvSpPr txBox="1">
            <a:spLocks/>
          </p:cNvSpPr>
          <p:nvPr/>
        </p:nvSpPr>
        <p:spPr>
          <a:xfrm>
            <a:off x="33018130" y="2945865"/>
            <a:ext cx="2002329" cy="1645920"/>
          </a:xfrm>
          <a:prstGeom prst="rect">
            <a:avLst/>
          </a:prstGeom>
        </p:spPr>
        <p:txBody>
          <a:bodyPr vert="horz" lIns="329184" tIns="164592" rIns="329184" bIns="164592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pPr algn="r"/>
            <a:r>
              <a:rPr lang="en-US" sz="8600">
                <a:solidFill>
                  <a:schemeClr val="bg1"/>
                </a:solidFill>
                <a:latin typeface="Lato"/>
                <a:ea typeface="Lato"/>
                <a:cs typeface="Lato"/>
              </a:rPr>
              <a:t>#12</a:t>
            </a:r>
            <a:endParaRPr lang="en-US" sz="864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4" name="Picture Placeholder 12" descr="A person standing next to a large fish tank&#10;&#10;AI-generated content may be incorrect.">
            <a:extLst>
              <a:ext uri="{FF2B5EF4-FFF2-40B4-BE49-F238E27FC236}">
                <a16:creationId xmlns:a16="http://schemas.microsoft.com/office/drawing/2014/main" id="{5F1B8174-5D4B-5132-5F11-A1D69ED1A4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29" r="1829"/>
          <a:stretch>
            <a:fillRect/>
          </a:stretch>
        </p:blipFill>
        <p:spPr bwMode="auto">
          <a:xfrm>
            <a:off x="613872" y="17065967"/>
            <a:ext cx="13667040" cy="10639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Placeholder 12" descr="A diagram of a computer&#10;&#10;AI-generated content may be incorrect.">
            <a:extLst>
              <a:ext uri="{FF2B5EF4-FFF2-40B4-BE49-F238E27FC236}">
                <a16:creationId xmlns:a16="http://schemas.microsoft.com/office/drawing/2014/main" id="{152976FE-8F4D-1ADF-B817-C232BC2CB7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451" r="20451"/>
          <a:stretch>
            <a:fillRect/>
          </a:stretch>
        </p:blipFill>
        <p:spPr bwMode="auto">
          <a:xfrm>
            <a:off x="613872" y="5144508"/>
            <a:ext cx="13667040" cy="10639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Placeholder 12" descr="A close-up of a machine&#10;&#10;AI-generated content may be incorrect.">
            <a:extLst>
              <a:ext uri="{FF2B5EF4-FFF2-40B4-BE49-F238E27FC236}">
                <a16:creationId xmlns:a16="http://schemas.microsoft.com/office/drawing/2014/main" id="{93CD0071-099A-F338-0AA6-538E21A3B6F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971" r="11971"/>
          <a:stretch>
            <a:fillRect/>
          </a:stretch>
        </p:blipFill>
        <p:spPr bwMode="auto">
          <a:xfrm>
            <a:off x="14863007" y="5279144"/>
            <a:ext cx="13667040" cy="10639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Placeholder 12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5650B502-7A99-6FC9-A93C-10B10E8A869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118" r="5118"/>
          <a:stretch>
            <a:fillRect/>
          </a:stretch>
        </p:blipFill>
        <p:spPr bwMode="auto">
          <a:xfrm>
            <a:off x="14829354" y="17032308"/>
            <a:ext cx="6586092" cy="510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Placeholder 12" descr="A computer keyboard and wires&#10;&#10;AI-generated content may be incorrect.">
            <a:extLst>
              <a:ext uri="{FF2B5EF4-FFF2-40B4-BE49-F238E27FC236}">
                <a16:creationId xmlns:a16="http://schemas.microsoft.com/office/drawing/2014/main" id="{BE666887-B80D-82CA-88BC-749037693E9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0932" r="20932"/>
          <a:stretch>
            <a:fillRect/>
          </a:stretch>
        </p:blipFill>
        <p:spPr bwMode="auto">
          <a:xfrm rot="5400000">
            <a:off x="22627314" y="16291836"/>
            <a:ext cx="5105148" cy="6586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ubtitle 10">
            <a:extLst>
              <a:ext uri="{FF2B5EF4-FFF2-40B4-BE49-F238E27FC236}">
                <a16:creationId xmlns:a16="http://schemas.microsoft.com/office/drawing/2014/main" id="{B6885142-3E5B-4908-7395-68E1325A41C1}"/>
              </a:ext>
            </a:extLst>
          </p:cNvPr>
          <p:cNvSpPr txBox="1">
            <a:spLocks/>
          </p:cNvSpPr>
          <p:nvPr/>
        </p:nvSpPr>
        <p:spPr>
          <a:xfrm>
            <a:off x="23887423" y="600767"/>
            <a:ext cx="8304791" cy="1097280"/>
          </a:xfrm>
          <a:prstGeom prst="rect">
            <a:avLst/>
          </a:prstGeom>
        </p:spPr>
        <p:txBody>
          <a:bodyPr vert="horz" lIns="329184" tIns="164592" rIns="329184" bIns="164592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432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Faculty Course Facilitator </a:t>
            </a:r>
            <a:endParaRPr lang="en-US" sz="144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Subtitle 10">
            <a:extLst>
              <a:ext uri="{FF2B5EF4-FFF2-40B4-BE49-F238E27FC236}">
                <a16:creationId xmlns:a16="http://schemas.microsoft.com/office/drawing/2014/main" id="{A32660F8-074A-7F0D-605C-F1522717C201}"/>
              </a:ext>
            </a:extLst>
          </p:cNvPr>
          <p:cNvSpPr txBox="1">
            <a:spLocks/>
          </p:cNvSpPr>
          <p:nvPr/>
        </p:nvSpPr>
        <p:spPr>
          <a:xfrm>
            <a:off x="23887423" y="1502099"/>
            <a:ext cx="6701243" cy="1169012"/>
          </a:xfrm>
          <a:prstGeom prst="rect">
            <a:avLst/>
          </a:prstGeom>
        </p:spPr>
        <p:txBody>
          <a:bodyPr vert="horz" lIns="329184" tIns="164592" rIns="329184" bIns="164592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b="0">
                <a:solidFill>
                  <a:schemeClr val="bg1"/>
                </a:solidFill>
                <a:latin typeface="Lato"/>
                <a:ea typeface="Lato"/>
                <a:cs typeface="Lato"/>
              </a:rPr>
              <a:t>Professor Yang </a:t>
            </a:r>
            <a:endParaRPr lang="en-US" sz="3200" b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l"/>
            <a:r>
              <a:rPr lang="en-US" sz="3200" b="0">
                <a:solidFill>
                  <a:schemeClr val="bg1"/>
                </a:solidFill>
                <a:latin typeface="Lato"/>
                <a:ea typeface="Lato"/>
                <a:cs typeface="Lato"/>
              </a:rPr>
              <a:t>Professor Ni</a:t>
            </a:r>
            <a:r>
              <a:rPr lang="en-US" sz="3200" b="0" dirty="0">
                <a:solidFill>
                  <a:schemeClr val="bg1"/>
                </a:solidFill>
                <a:latin typeface="Lato"/>
                <a:ea typeface="Lato"/>
                <a:cs typeface="Lato"/>
              </a:rPr>
              <a:t>  </a:t>
            </a:r>
            <a:endParaRPr lang="en-US" sz="32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9" name="Picture 8" descr="A computer monitor with wires and wires&#10;&#10;AI-generated content may be incorrect.">
            <a:extLst>
              <a:ext uri="{FF2B5EF4-FFF2-40B4-BE49-F238E27FC236}">
                <a16:creationId xmlns:a16="http://schemas.microsoft.com/office/drawing/2014/main" id="{86BDB3B5-B203-87D9-78EB-E16CCB6700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24987" y="22774904"/>
            <a:ext cx="6548706" cy="5121753"/>
          </a:xfrm>
          <a:prstGeom prst="rect">
            <a:avLst/>
          </a:prstGeom>
        </p:spPr>
      </p:pic>
      <p:sp>
        <p:nvSpPr>
          <p:cNvPr id="14" name="Subtitle 10">
            <a:extLst>
              <a:ext uri="{FF2B5EF4-FFF2-40B4-BE49-F238E27FC236}">
                <a16:creationId xmlns:a16="http://schemas.microsoft.com/office/drawing/2014/main" id="{84B8E84D-AE1D-0E00-DC3E-116B66BF7A62}"/>
              </a:ext>
            </a:extLst>
          </p:cNvPr>
          <p:cNvSpPr txBox="1">
            <a:spLocks/>
          </p:cNvSpPr>
          <p:nvPr/>
        </p:nvSpPr>
        <p:spPr>
          <a:xfrm>
            <a:off x="18505615" y="1439750"/>
            <a:ext cx="3668113" cy="3018811"/>
          </a:xfrm>
          <a:prstGeom prst="rect">
            <a:avLst/>
          </a:prstGeom>
        </p:spPr>
        <p:txBody>
          <a:bodyPr vert="horz" lIns="329184" tIns="164592" rIns="329184" bIns="164592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sz="3200" b="0">
                <a:solidFill>
                  <a:schemeClr val="bg1"/>
                </a:solidFill>
                <a:latin typeface="Lato"/>
                <a:ea typeface="Lato"/>
                <a:cs typeface="Lato"/>
              </a:rPr>
              <a:t>Mario Rodriguez</a:t>
            </a:r>
            <a:endParaRPr lang="en-US" sz="3200" dirty="0">
              <a:solidFill>
                <a:schemeClr val="bg1"/>
              </a:solidFill>
              <a:latin typeface="Lato"/>
              <a:ea typeface="Lato"/>
              <a:cs typeface="Lato"/>
            </a:endParaRPr>
          </a:p>
          <a:p>
            <a:pPr algn="l">
              <a:lnSpc>
                <a:spcPct val="150000"/>
              </a:lnSpc>
            </a:pPr>
            <a:r>
              <a:rPr lang="en-US" sz="3200" b="0">
                <a:solidFill>
                  <a:schemeClr val="bg1"/>
                </a:solidFill>
                <a:latin typeface="Lato"/>
                <a:ea typeface="Lato"/>
                <a:cs typeface="Lato"/>
              </a:rPr>
              <a:t>Laiba Baig</a:t>
            </a:r>
          </a:p>
        </p:txBody>
      </p:sp>
      <p:pic>
        <p:nvPicPr>
          <p:cNvPr id="16" name="Picture 15" descr="A logo of an owl&#10;&#10;AI-generated content may be incorrect.">
            <a:extLst>
              <a:ext uri="{FF2B5EF4-FFF2-40B4-BE49-F238E27FC236}">
                <a16:creationId xmlns:a16="http://schemas.microsoft.com/office/drawing/2014/main" id="{D036CD69-D7D0-DD23-FD4E-1C4493A9550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contrast="3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65003" y="2469972"/>
            <a:ext cx="4191000" cy="24574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8F40D7-2D46-85D1-74C4-BD44F283BA24}"/>
              </a:ext>
            </a:extLst>
          </p:cNvPr>
          <p:cNvSpPr txBox="1"/>
          <p:nvPr/>
        </p:nvSpPr>
        <p:spPr>
          <a:xfrm>
            <a:off x="1623307" y="15545598"/>
            <a:ext cx="11122817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ea typeface="Calibri"/>
                <a:cs typeface="Calibri"/>
              </a:rPr>
              <a:t>Fig 1: Part of wiring diagram of the PCB, RPi 5 Compute module, Teensy 4.1, and UW </a:t>
            </a:r>
            <a:r>
              <a:rPr lang="en-US" sz="2400" dirty="0">
                <a:ea typeface="Calibri"/>
                <a:cs typeface="Calibri"/>
              </a:rPr>
              <a:t>modems</a:t>
            </a:r>
            <a:endParaRPr lang="en-US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26228C-1E09-5114-8FD8-7250D349C772}"/>
              </a:ext>
            </a:extLst>
          </p:cNvPr>
          <p:cNvSpPr txBox="1"/>
          <p:nvPr/>
        </p:nvSpPr>
        <p:spPr>
          <a:xfrm>
            <a:off x="15682822" y="15734581"/>
            <a:ext cx="12033849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ea typeface="Calibri"/>
                <a:cs typeface="Calibri"/>
              </a:rPr>
              <a:t>Fig 2: 3D model of the entire unit including a battery, UW-O unit, PCB, and UW-A transducer within the waterproof </a:t>
            </a:r>
            <a:r>
              <a:rPr lang="en-US" sz="2400" err="1">
                <a:ea typeface="Calibri"/>
                <a:cs typeface="Calibri"/>
              </a:rPr>
              <a:t>cont</a:t>
            </a:r>
            <a:r>
              <a:rPr lang="en-US" sz="2400">
                <a:ea typeface="Calibri"/>
                <a:cs typeface="Calibri"/>
              </a:rPr>
              <a:t>ainer</a:t>
            </a:r>
            <a:endParaRPr lang="en-US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2F3D31-8A2B-30D0-943F-4361D8FF5C24}"/>
              </a:ext>
            </a:extLst>
          </p:cNvPr>
          <p:cNvSpPr txBox="1"/>
          <p:nvPr/>
        </p:nvSpPr>
        <p:spPr>
          <a:xfrm>
            <a:off x="1966822" y="27785682"/>
            <a:ext cx="1045521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ea typeface="Calibri"/>
                <a:cs typeface="Calibri"/>
              </a:rPr>
              <a:t>Fig 3: David </a:t>
            </a:r>
            <a:r>
              <a:rPr lang="en-US" sz="2400" dirty="0" err="1">
                <a:ea typeface="Calibri"/>
                <a:cs typeface="Calibri"/>
              </a:rPr>
              <a:t>Osemene</a:t>
            </a:r>
            <a:r>
              <a:rPr lang="en-US" sz="2400" dirty="0">
                <a:ea typeface="Calibri"/>
                <a:cs typeface="Calibri"/>
              </a:rPr>
              <a:t> testing the functionality of the optical modem in the lab tank</a:t>
            </a:r>
            <a:endParaRPr lang="en-US" sz="2400">
              <a:ea typeface="Calibri"/>
              <a:cs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2EF7B9-8CDD-5B9E-7EF9-EBA618FF33EF}"/>
              </a:ext>
            </a:extLst>
          </p:cNvPr>
          <p:cNvSpPr txBox="1"/>
          <p:nvPr/>
        </p:nvSpPr>
        <p:spPr>
          <a:xfrm>
            <a:off x="15889856" y="22152633"/>
            <a:ext cx="592634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ea typeface="Calibri"/>
                <a:cs typeface="Calibri"/>
              </a:rPr>
              <a:t>Fig 4: </a:t>
            </a:r>
            <a:r>
              <a:rPr lang="en-US" sz="2400" dirty="0" err="1">
                <a:ea typeface="Calibri"/>
                <a:cs typeface="Calibri"/>
              </a:rPr>
              <a:t>KnifeBot</a:t>
            </a:r>
            <a:r>
              <a:rPr lang="en-US" sz="2400" dirty="0">
                <a:ea typeface="Calibri"/>
                <a:cs typeface="Calibri"/>
              </a:rPr>
              <a:t> drone prototype</a:t>
            </a:r>
            <a:endParaRPr lang="en-US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BBE5C3-C01B-E7EB-0B53-BDE14917F3AB}"/>
              </a:ext>
            </a:extLst>
          </p:cNvPr>
          <p:cNvSpPr txBox="1"/>
          <p:nvPr/>
        </p:nvSpPr>
        <p:spPr>
          <a:xfrm>
            <a:off x="21807577" y="22221645"/>
            <a:ext cx="710816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ea typeface="Calibri"/>
                <a:cs typeface="Calibri"/>
              </a:rPr>
              <a:t>Fig 5: Acoustic modem and transducer connected to Pi </a:t>
            </a:r>
            <a:r>
              <a:rPr lang="en-US" sz="2000">
                <a:ea typeface="Calibri"/>
                <a:cs typeface="Calibri"/>
              </a:rPr>
              <a:t>for testing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F6F828-FDEE-5256-2449-C40C6F0ADAA3}"/>
              </a:ext>
            </a:extLst>
          </p:cNvPr>
          <p:cNvSpPr txBox="1"/>
          <p:nvPr/>
        </p:nvSpPr>
        <p:spPr>
          <a:xfrm>
            <a:off x="14863313" y="27897826"/>
            <a:ext cx="6366293" cy="8482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ea typeface="Calibri"/>
                <a:cs typeface="Calibri"/>
              </a:rPr>
              <a:t>Fig 6: Comms test of optical modems out of water </a:t>
            </a:r>
            <a:r>
              <a:rPr lang="en-US" sz="2400" dirty="0">
                <a:ea typeface="Calibri"/>
                <a:cs typeface="Calibri"/>
              </a:rPr>
              <a:t>through our program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F2FDDE-4763-FD49-116B-1D9DAA86E7B0}"/>
              </a:ext>
            </a:extLst>
          </p:cNvPr>
          <p:cNvSpPr txBox="1"/>
          <p:nvPr/>
        </p:nvSpPr>
        <p:spPr>
          <a:xfrm>
            <a:off x="22210122" y="27897825"/>
            <a:ext cx="566755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ea typeface="Calibri"/>
                <a:cs typeface="Calibri"/>
              </a:rPr>
              <a:t>Fig 7: Bare UW-O </a:t>
            </a:r>
            <a:r>
              <a:rPr lang="en-US" sz="2400">
                <a:ea typeface="Calibri"/>
                <a:cs typeface="Calibri"/>
              </a:rPr>
              <a:t>unit with</a:t>
            </a:r>
            <a:r>
              <a:rPr lang="en-US" sz="2400" dirty="0">
                <a:ea typeface="Calibri"/>
                <a:cs typeface="Calibri"/>
              </a:rPr>
              <a:t> soldered on ethernet and power cables</a:t>
            </a:r>
          </a:p>
        </p:txBody>
      </p:sp>
      <p:pic>
        <p:nvPicPr>
          <p:cNvPr id="29" name="Picture 28" descr="A hand holding a circuit board&#10;&#10;AI-generated content may be incorrect.">
            <a:extLst>
              <a:ext uri="{FF2B5EF4-FFF2-40B4-BE49-F238E27FC236}">
                <a16:creationId xmlns:a16="http://schemas.microsoft.com/office/drawing/2014/main" id="{BBDA7205-56D3-5E77-DB8B-0EE42FC44BD2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3843" t="12329" r="23160" b="457"/>
          <a:stretch>
            <a:fillRect/>
          </a:stretch>
        </p:blipFill>
        <p:spPr>
          <a:xfrm rot="-5400000">
            <a:off x="22615022" y="21834441"/>
            <a:ext cx="4921288" cy="678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216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be38dd-96ed-4545-b5bb-0f5f9764c2bb" xsi:nil="true"/>
    <lcf76f155ced4ddcb4097134ff3c332f xmlns="e31bdc52-4d18-4510-910a-4fbcc60715f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99A7E1E6086642B7C0ACFE7BE1CDA2" ma:contentTypeVersion="11" ma:contentTypeDescription="Create a new document." ma:contentTypeScope="" ma:versionID="6c0a3466feb48cac2f0c51d0eaaa3aea">
  <xsd:schema xmlns:xsd="http://www.w3.org/2001/XMLSchema" xmlns:xs="http://www.w3.org/2001/XMLSchema" xmlns:p="http://schemas.microsoft.com/office/2006/metadata/properties" xmlns:ns2="e31bdc52-4d18-4510-910a-4fbcc60715fc" xmlns:ns3="93be38dd-96ed-4545-b5bb-0f5f9764c2bb" targetNamespace="http://schemas.microsoft.com/office/2006/metadata/properties" ma:root="true" ma:fieldsID="3b56c5461bec0e586be0612e6a706580" ns2:_="" ns3:_="">
    <xsd:import namespace="e31bdc52-4d18-4510-910a-4fbcc60715fc"/>
    <xsd:import namespace="93be38dd-96ed-4545-b5bb-0f5f9764c2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1bdc52-4d18-4510-910a-4fbcc60715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7728a8d2-fce2-4ead-88e1-13feca9680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be38dd-96ed-4545-b5bb-0f5f9764c2b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2043446-68fd-47e5-a66a-d22bdc951593}" ma:internalName="TaxCatchAll" ma:showField="CatchAllData" ma:web="93be38dd-96ed-4545-b5bb-0f5f9764c2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8E27817-9DA8-4D86-BD6E-75A7151DA287}">
  <ds:schemaRefs>
    <ds:schemaRef ds:uri="93be38dd-96ed-4545-b5bb-0f5f9764c2bb"/>
    <ds:schemaRef ds:uri="e31bdc52-4d18-4510-910a-4fbcc60715fc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538E041-9103-4F5E-96F2-E9ECE6A9359D}">
  <ds:schemaRefs>
    <ds:schemaRef ds:uri="93be38dd-96ed-4545-b5bb-0f5f9764c2bb"/>
    <ds:schemaRef ds:uri="e31bdc52-4d18-4510-910a-4fbcc60715f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AFB0461-9626-4428-B13B-9EEC9586F7A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Underwater Multimodal Modem for KnifeBot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Adlai Moss</dc:creator>
  <cp:revision>1482</cp:revision>
  <dcterms:created xsi:type="dcterms:W3CDTF">2021-11-24T20:51:02Z</dcterms:created>
  <dcterms:modified xsi:type="dcterms:W3CDTF">2026-03-31T03:43:38Z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0x010100C099A7E1E6086642B7C0ACFE7BE1CDA2</vt:lpwstr>
  </property>
  <property fmtid="{D5CDD505-2E9C-101B-9397-08002B2CF9AE}" pid="3" name="MediaServiceImageTags">
    <vt:lpwstr/>
  </property>
</Properties>
</file>